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anva Sans Bold" charset="1" panose="020B0803030501040103"/>
      <p:regular r:id="rId14"/>
    </p:embeddedFont>
    <p:embeddedFont>
      <p:font typeface="Poppins Bold" charset="1" panose="00000800000000000000"/>
      <p:regular r:id="rId15"/>
    </p:embeddedFont>
    <p:embeddedFont>
      <p:font typeface="Poppins" charset="1" panose="00000500000000000000"/>
      <p:regular r:id="rId16"/>
    </p:embeddedFont>
    <p:embeddedFont>
      <p:font typeface="Poppins Italics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localhost:8081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611945">
            <a:off x="14458950" y="4723039"/>
            <a:ext cx="7658100" cy="5426529"/>
            <a:chOff x="0" y="0"/>
            <a:chExt cx="2016948" cy="14292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6948" cy="1429209"/>
            </a:xfrm>
            <a:custGeom>
              <a:avLst/>
              <a:gdLst/>
              <a:ahLst/>
              <a:cxnLst/>
              <a:rect r="r" b="b" t="t" l="l"/>
              <a:pathLst>
                <a:path h="1429209" w="2016948">
                  <a:moveTo>
                    <a:pt x="51558" y="0"/>
                  </a:moveTo>
                  <a:lnTo>
                    <a:pt x="1965390" y="0"/>
                  </a:lnTo>
                  <a:cubicBezTo>
                    <a:pt x="1979064" y="0"/>
                    <a:pt x="1992178" y="5432"/>
                    <a:pt x="2001847" y="15101"/>
                  </a:cubicBezTo>
                  <a:cubicBezTo>
                    <a:pt x="2011516" y="24770"/>
                    <a:pt x="2016948" y="37884"/>
                    <a:pt x="2016948" y="51558"/>
                  </a:cubicBezTo>
                  <a:lnTo>
                    <a:pt x="2016948" y="1377651"/>
                  </a:lnTo>
                  <a:cubicBezTo>
                    <a:pt x="2016948" y="1391325"/>
                    <a:pt x="2011516" y="1404439"/>
                    <a:pt x="2001847" y="1414108"/>
                  </a:cubicBezTo>
                  <a:cubicBezTo>
                    <a:pt x="1992178" y="1423777"/>
                    <a:pt x="1979064" y="1429209"/>
                    <a:pt x="1965390" y="1429209"/>
                  </a:cubicBezTo>
                  <a:lnTo>
                    <a:pt x="51558" y="1429209"/>
                  </a:lnTo>
                  <a:cubicBezTo>
                    <a:pt x="37884" y="1429209"/>
                    <a:pt x="24770" y="1423777"/>
                    <a:pt x="15101" y="1414108"/>
                  </a:cubicBezTo>
                  <a:cubicBezTo>
                    <a:pt x="5432" y="1404439"/>
                    <a:pt x="0" y="1391325"/>
                    <a:pt x="0" y="1377651"/>
                  </a:cubicBezTo>
                  <a:lnTo>
                    <a:pt x="0" y="51558"/>
                  </a:lnTo>
                  <a:cubicBezTo>
                    <a:pt x="0" y="37884"/>
                    <a:pt x="5432" y="24770"/>
                    <a:pt x="15101" y="15101"/>
                  </a:cubicBezTo>
                  <a:cubicBezTo>
                    <a:pt x="24770" y="5432"/>
                    <a:pt x="37884" y="0"/>
                    <a:pt x="51558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2016948" cy="17625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611945">
            <a:off x="-614581" y="-1866767"/>
            <a:ext cx="3031341" cy="2798456"/>
            <a:chOff x="0" y="0"/>
            <a:chExt cx="798378" cy="7370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98378" cy="737042"/>
            </a:xfrm>
            <a:custGeom>
              <a:avLst/>
              <a:gdLst/>
              <a:ahLst/>
              <a:cxnLst/>
              <a:rect r="r" b="b" t="t" l="l"/>
              <a:pathLst>
                <a:path h="737042" w="798378">
                  <a:moveTo>
                    <a:pt x="130252" y="0"/>
                  </a:moveTo>
                  <a:lnTo>
                    <a:pt x="668126" y="0"/>
                  </a:lnTo>
                  <a:cubicBezTo>
                    <a:pt x="702671" y="0"/>
                    <a:pt x="735801" y="13723"/>
                    <a:pt x="760228" y="38150"/>
                  </a:cubicBezTo>
                  <a:cubicBezTo>
                    <a:pt x="784655" y="62577"/>
                    <a:pt x="798378" y="95707"/>
                    <a:pt x="798378" y="130252"/>
                  </a:cubicBezTo>
                  <a:lnTo>
                    <a:pt x="798378" y="606790"/>
                  </a:lnTo>
                  <a:cubicBezTo>
                    <a:pt x="798378" y="678726"/>
                    <a:pt x="740062" y="737042"/>
                    <a:pt x="668126" y="737042"/>
                  </a:cubicBezTo>
                  <a:lnTo>
                    <a:pt x="130252" y="737042"/>
                  </a:lnTo>
                  <a:cubicBezTo>
                    <a:pt x="58316" y="737042"/>
                    <a:pt x="0" y="678726"/>
                    <a:pt x="0" y="606790"/>
                  </a:cubicBezTo>
                  <a:lnTo>
                    <a:pt x="0" y="130252"/>
                  </a:lnTo>
                  <a:cubicBezTo>
                    <a:pt x="0" y="58316"/>
                    <a:pt x="58316" y="0"/>
                    <a:pt x="130252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33375"/>
              <a:ext cx="798378" cy="1070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611945">
            <a:off x="12055325" y="9566947"/>
            <a:ext cx="3031341" cy="2798456"/>
            <a:chOff x="0" y="0"/>
            <a:chExt cx="798378" cy="7370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98378" cy="737042"/>
            </a:xfrm>
            <a:custGeom>
              <a:avLst/>
              <a:gdLst/>
              <a:ahLst/>
              <a:cxnLst/>
              <a:rect r="r" b="b" t="t" l="l"/>
              <a:pathLst>
                <a:path h="737042" w="798378">
                  <a:moveTo>
                    <a:pt x="130252" y="0"/>
                  </a:moveTo>
                  <a:lnTo>
                    <a:pt x="668126" y="0"/>
                  </a:lnTo>
                  <a:cubicBezTo>
                    <a:pt x="702671" y="0"/>
                    <a:pt x="735801" y="13723"/>
                    <a:pt x="760228" y="38150"/>
                  </a:cubicBezTo>
                  <a:cubicBezTo>
                    <a:pt x="784655" y="62577"/>
                    <a:pt x="798378" y="95707"/>
                    <a:pt x="798378" y="130252"/>
                  </a:cubicBezTo>
                  <a:lnTo>
                    <a:pt x="798378" y="606790"/>
                  </a:lnTo>
                  <a:cubicBezTo>
                    <a:pt x="798378" y="678726"/>
                    <a:pt x="740062" y="737042"/>
                    <a:pt x="668126" y="737042"/>
                  </a:cubicBezTo>
                  <a:lnTo>
                    <a:pt x="130252" y="737042"/>
                  </a:lnTo>
                  <a:cubicBezTo>
                    <a:pt x="58316" y="737042"/>
                    <a:pt x="0" y="678726"/>
                    <a:pt x="0" y="606790"/>
                  </a:cubicBezTo>
                  <a:lnTo>
                    <a:pt x="0" y="130252"/>
                  </a:lnTo>
                  <a:cubicBezTo>
                    <a:pt x="0" y="58316"/>
                    <a:pt x="58316" y="0"/>
                    <a:pt x="130252" y="0"/>
                  </a:cubicBezTo>
                  <a:close/>
                </a:path>
              </a:pathLst>
            </a:custGeom>
            <a:solidFill>
              <a:srgbClr val="C27F7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33375"/>
              <a:ext cx="798378" cy="1070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3011342" y="6140237"/>
            <a:ext cx="8918179" cy="19050"/>
          </a:xfrm>
          <a:prstGeom prst="line">
            <a:avLst/>
          </a:prstGeom>
          <a:ln cap="flat" w="476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-2611945">
            <a:off x="12744473" y="42362"/>
            <a:ext cx="8101900" cy="3702724"/>
            <a:chOff x="0" y="0"/>
            <a:chExt cx="2133834" cy="9752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33834" cy="975203"/>
            </a:xfrm>
            <a:custGeom>
              <a:avLst/>
              <a:gdLst/>
              <a:ahLst/>
              <a:cxnLst/>
              <a:rect r="r" b="b" t="t" l="l"/>
              <a:pathLst>
                <a:path h="975203" w="2133834">
                  <a:moveTo>
                    <a:pt x="48734" y="0"/>
                  </a:moveTo>
                  <a:lnTo>
                    <a:pt x="2085100" y="0"/>
                  </a:lnTo>
                  <a:cubicBezTo>
                    <a:pt x="2112015" y="0"/>
                    <a:pt x="2133834" y="21819"/>
                    <a:pt x="2133834" y="48734"/>
                  </a:cubicBezTo>
                  <a:lnTo>
                    <a:pt x="2133834" y="926469"/>
                  </a:lnTo>
                  <a:cubicBezTo>
                    <a:pt x="2133834" y="953384"/>
                    <a:pt x="2112015" y="975203"/>
                    <a:pt x="2085100" y="975203"/>
                  </a:cubicBezTo>
                  <a:lnTo>
                    <a:pt x="48734" y="975203"/>
                  </a:lnTo>
                  <a:cubicBezTo>
                    <a:pt x="21819" y="975203"/>
                    <a:pt x="0" y="953384"/>
                    <a:pt x="0" y="926469"/>
                  </a:cubicBezTo>
                  <a:lnTo>
                    <a:pt x="0" y="48734"/>
                  </a:lnTo>
                  <a:cubicBezTo>
                    <a:pt x="0" y="21819"/>
                    <a:pt x="21819" y="0"/>
                    <a:pt x="48734" y="0"/>
                  </a:cubicBezTo>
                  <a:close/>
                </a:path>
              </a:pathLst>
            </a:custGeom>
            <a:solidFill>
              <a:srgbClr val="C27F7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33375"/>
              <a:ext cx="2133834" cy="130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2611945">
            <a:off x="10808920" y="-3972270"/>
            <a:ext cx="8101900" cy="3702724"/>
            <a:chOff x="0" y="0"/>
            <a:chExt cx="2133834" cy="97520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33834" cy="975203"/>
            </a:xfrm>
            <a:custGeom>
              <a:avLst/>
              <a:gdLst/>
              <a:ahLst/>
              <a:cxnLst/>
              <a:rect r="r" b="b" t="t" l="l"/>
              <a:pathLst>
                <a:path h="975203" w="2133834">
                  <a:moveTo>
                    <a:pt x="48734" y="0"/>
                  </a:moveTo>
                  <a:lnTo>
                    <a:pt x="2085100" y="0"/>
                  </a:lnTo>
                  <a:cubicBezTo>
                    <a:pt x="2112015" y="0"/>
                    <a:pt x="2133834" y="21819"/>
                    <a:pt x="2133834" y="48734"/>
                  </a:cubicBezTo>
                  <a:lnTo>
                    <a:pt x="2133834" y="926469"/>
                  </a:lnTo>
                  <a:cubicBezTo>
                    <a:pt x="2133834" y="953384"/>
                    <a:pt x="2112015" y="975203"/>
                    <a:pt x="2085100" y="975203"/>
                  </a:cubicBezTo>
                  <a:lnTo>
                    <a:pt x="48734" y="975203"/>
                  </a:lnTo>
                  <a:cubicBezTo>
                    <a:pt x="21819" y="975203"/>
                    <a:pt x="0" y="953384"/>
                    <a:pt x="0" y="926469"/>
                  </a:cubicBezTo>
                  <a:lnTo>
                    <a:pt x="0" y="48734"/>
                  </a:lnTo>
                  <a:cubicBezTo>
                    <a:pt x="0" y="21819"/>
                    <a:pt x="21819" y="0"/>
                    <a:pt x="48734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33375"/>
              <a:ext cx="2133834" cy="130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2611945">
            <a:off x="-6128725" y="8307085"/>
            <a:ext cx="8101900" cy="3702724"/>
            <a:chOff x="0" y="0"/>
            <a:chExt cx="2133834" cy="97520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33834" cy="975203"/>
            </a:xfrm>
            <a:custGeom>
              <a:avLst/>
              <a:gdLst/>
              <a:ahLst/>
              <a:cxnLst/>
              <a:rect r="r" b="b" t="t" l="l"/>
              <a:pathLst>
                <a:path h="975203" w="2133834">
                  <a:moveTo>
                    <a:pt x="48734" y="0"/>
                  </a:moveTo>
                  <a:lnTo>
                    <a:pt x="2085100" y="0"/>
                  </a:lnTo>
                  <a:cubicBezTo>
                    <a:pt x="2112015" y="0"/>
                    <a:pt x="2133834" y="21819"/>
                    <a:pt x="2133834" y="48734"/>
                  </a:cubicBezTo>
                  <a:lnTo>
                    <a:pt x="2133834" y="926469"/>
                  </a:lnTo>
                  <a:cubicBezTo>
                    <a:pt x="2133834" y="953384"/>
                    <a:pt x="2112015" y="975203"/>
                    <a:pt x="2085100" y="975203"/>
                  </a:cubicBezTo>
                  <a:lnTo>
                    <a:pt x="48734" y="975203"/>
                  </a:lnTo>
                  <a:cubicBezTo>
                    <a:pt x="21819" y="975203"/>
                    <a:pt x="0" y="953384"/>
                    <a:pt x="0" y="926469"/>
                  </a:cubicBezTo>
                  <a:lnTo>
                    <a:pt x="0" y="48734"/>
                  </a:lnTo>
                  <a:cubicBezTo>
                    <a:pt x="0" y="21819"/>
                    <a:pt x="21819" y="0"/>
                    <a:pt x="48734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33375"/>
              <a:ext cx="2133834" cy="130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3011342" y="1119820"/>
            <a:ext cx="1034092" cy="1034092"/>
          </a:xfrm>
          <a:custGeom>
            <a:avLst/>
            <a:gdLst/>
            <a:ahLst/>
            <a:cxnLst/>
            <a:rect r="r" b="b" t="t" l="l"/>
            <a:pathLst>
              <a:path h="1034092" w="1034092">
                <a:moveTo>
                  <a:pt x="0" y="0"/>
                </a:moveTo>
                <a:lnTo>
                  <a:pt x="1034092" y="0"/>
                </a:lnTo>
                <a:lnTo>
                  <a:pt x="1034092" y="1034092"/>
                </a:lnTo>
                <a:lnTo>
                  <a:pt x="0" y="10340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963666" y="2631888"/>
            <a:ext cx="9871075" cy="1865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26"/>
              </a:lnSpc>
            </a:pPr>
            <a:r>
              <a:rPr lang="en-US" sz="1094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ASSIGNMENT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011301" y="4314131"/>
            <a:ext cx="9524466" cy="1711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26"/>
              </a:lnSpc>
            </a:pPr>
            <a:r>
              <a:rPr lang="en-US" b="true" sz="12047" spc="2457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011301" y="7040349"/>
            <a:ext cx="5232878" cy="1912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spc="134" b="true">
                <a:solidFill>
                  <a:srgbClr val="2E2E2E"/>
                </a:solidFill>
                <a:latin typeface="Poppins Bold"/>
                <a:ea typeface="Poppins Bold"/>
                <a:cs typeface="Poppins Bold"/>
                <a:sym typeface="Poppins Bold"/>
              </a:rPr>
              <a:t>Team 10</a:t>
            </a:r>
          </a:p>
          <a:p>
            <a:pPr algn="l">
              <a:lnSpc>
                <a:spcPts val="3779"/>
              </a:lnSpc>
            </a:pPr>
            <a:r>
              <a:rPr lang="en-US" sz="2699" spc="134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Usama Bakkar</a:t>
            </a:r>
          </a:p>
          <a:p>
            <a:pPr algn="l">
              <a:lnSpc>
                <a:spcPts val="3779"/>
              </a:lnSpc>
            </a:pPr>
            <a:r>
              <a:rPr lang="en-US" sz="2699" spc="134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Naif Alenazi</a:t>
            </a:r>
          </a:p>
          <a:p>
            <a:pPr algn="l">
              <a:lnSpc>
                <a:spcPts val="3779"/>
              </a:lnSpc>
            </a:pPr>
            <a:r>
              <a:rPr lang="en-US" sz="2699" spc="134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Anas Alhanaya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672268" y="1275233"/>
            <a:ext cx="4471732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Apache Flink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29566" y="1450894"/>
            <a:ext cx="6257114" cy="90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b="true" sz="6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Table of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299003" y="2404674"/>
            <a:ext cx="8918240" cy="1109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b="true" sz="7700" spc="1478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796411" y="1360532"/>
            <a:ext cx="1592821" cy="7565937"/>
            <a:chOff x="0" y="0"/>
            <a:chExt cx="419508" cy="19926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9508" cy="1992675"/>
            </a:xfrm>
            <a:custGeom>
              <a:avLst/>
              <a:gdLst/>
              <a:ahLst/>
              <a:cxnLst/>
              <a:rect r="r" b="b" t="t" l="l"/>
              <a:pathLst>
                <a:path h="1992675" w="419508">
                  <a:moveTo>
                    <a:pt x="209754" y="0"/>
                  </a:moveTo>
                  <a:lnTo>
                    <a:pt x="209754" y="0"/>
                  </a:lnTo>
                  <a:cubicBezTo>
                    <a:pt x="325598" y="0"/>
                    <a:pt x="419508" y="93910"/>
                    <a:pt x="419508" y="209754"/>
                  </a:cubicBezTo>
                  <a:lnTo>
                    <a:pt x="419508" y="1782920"/>
                  </a:lnTo>
                  <a:cubicBezTo>
                    <a:pt x="419508" y="1898765"/>
                    <a:pt x="325598" y="1992675"/>
                    <a:pt x="209754" y="1992675"/>
                  </a:cubicBezTo>
                  <a:lnTo>
                    <a:pt x="209754" y="1992675"/>
                  </a:lnTo>
                  <a:cubicBezTo>
                    <a:pt x="93910" y="1992675"/>
                    <a:pt x="0" y="1898765"/>
                    <a:pt x="0" y="1782920"/>
                  </a:cubicBezTo>
                  <a:lnTo>
                    <a:pt x="0" y="209754"/>
                  </a:lnTo>
                  <a:cubicBezTo>
                    <a:pt x="0" y="93910"/>
                    <a:pt x="93910" y="0"/>
                    <a:pt x="209754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33375"/>
              <a:ext cx="419508" cy="2326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491589" y="1360532"/>
            <a:ext cx="1592821" cy="7565937"/>
            <a:chOff x="0" y="0"/>
            <a:chExt cx="419508" cy="19926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19508" cy="1992675"/>
            </a:xfrm>
            <a:custGeom>
              <a:avLst/>
              <a:gdLst/>
              <a:ahLst/>
              <a:cxnLst/>
              <a:rect r="r" b="b" t="t" l="l"/>
              <a:pathLst>
                <a:path h="1992675" w="419508">
                  <a:moveTo>
                    <a:pt x="209754" y="0"/>
                  </a:moveTo>
                  <a:lnTo>
                    <a:pt x="209754" y="0"/>
                  </a:lnTo>
                  <a:cubicBezTo>
                    <a:pt x="325598" y="0"/>
                    <a:pt x="419508" y="93910"/>
                    <a:pt x="419508" y="209754"/>
                  </a:cubicBezTo>
                  <a:lnTo>
                    <a:pt x="419508" y="1782920"/>
                  </a:lnTo>
                  <a:cubicBezTo>
                    <a:pt x="419508" y="1898765"/>
                    <a:pt x="325598" y="1992675"/>
                    <a:pt x="209754" y="1992675"/>
                  </a:cubicBezTo>
                  <a:lnTo>
                    <a:pt x="209754" y="1992675"/>
                  </a:lnTo>
                  <a:cubicBezTo>
                    <a:pt x="93910" y="1992675"/>
                    <a:pt x="0" y="1898765"/>
                    <a:pt x="0" y="1782920"/>
                  </a:cubicBezTo>
                  <a:lnTo>
                    <a:pt x="0" y="209754"/>
                  </a:lnTo>
                  <a:cubicBezTo>
                    <a:pt x="0" y="93910"/>
                    <a:pt x="93910" y="0"/>
                    <a:pt x="209754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33375"/>
              <a:ext cx="419508" cy="2326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AutoShape 10" id="10"/>
          <p:cNvSpPr/>
          <p:nvPr/>
        </p:nvSpPr>
        <p:spPr>
          <a:xfrm>
            <a:off x="4299033" y="3654044"/>
            <a:ext cx="8918179" cy="1905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6576093" y="4038676"/>
            <a:ext cx="5135815" cy="466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6249"/>
              </a:lnSpc>
              <a:buFont typeface="Arial"/>
              <a:buChar char="•"/>
            </a:pPr>
            <a:r>
              <a:rPr lang="en-US" sz="24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Overview</a:t>
            </a:r>
          </a:p>
          <a:p>
            <a:pPr algn="l" marL="539749" indent="-269875" lvl="1">
              <a:lnSpc>
                <a:spcPts val="6249"/>
              </a:lnSpc>
              <a:buFont typeface="Arial"/>
              <a:buChar char="•"/>
            </a:pPr>
            <a:r>
              <a:rPr lang="en-US" sz="24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Justification</a:t>
            </a:r>
          </a:p>
          <a:p>
            <a:pPr algn="l" marL="539749" indent="-269875" lvl="1">
              <a:lnSpc>
                <a:spcPts val="6249"/>
              </a:lnSpc>
              <a:buFont typeface="Arial"/>
              <a:buChar char="•"/>
            </a:pPr>
            <a:r>
              <a:rPr lang="en-US" sz="24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Installation</a:t>
            </a:r>
          </a:p>
          <a:p>
            <a:pPr algn="l" marL="539749" indent="-269875" lvl="1">
              <a:lnSpc>
                <a:spcPts val="6249"/>
              </a:lnSpc>
              <a:buFont typeface="Arial"/>
              <a:buChar char="•"/>
            </a:pPr>
            <a:r>
              <a:rPr lang="en-US" sz="24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Experimentation</a:t>
            </a:r>
          </a:p>
          <a:p>
            <a:pPr algn="l" marL="539749" indent="-269875" lvl="1">
              <a:lnSpc>
                <a:spcPts val="6249"/>
              </a:lnSpc>
              <a:buFont typeface="Arial"/>
              <a:buChar char="•"/>
            </a:pPr>
            <a:r>
              <a:rPr lang="en-US" sz="24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Results</a:t>
            </a:r>
          </a:p>
          <a:p>
            <a:pPr algn="l" marL="539749" indent="-269875" lvl="1">
              <a:lnSpc>
                <a:spcPts val="6249"/>
              </a:lnSpc>
              <a:buFont typeface="Arial"/>
              <a:buChar char="•"/>
            </a:pPr>
            <a:r>
              <a:rPr lang="en-US" sz="24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Critical Analysis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503507">
            <a:off x="8249399" y="1316288"/>
            <a:ext cx="12583451" cy="6795882"/>
            <a:chOff x="0" y="0"/>
            <a:chExt cx="3314160" cy="17898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14160" cy="1789862"/>
            </a:xfrm>
            <a:custGeom>
              <a:avLst/>
              <a:gdLst/>
              <a:ahLst/>
              <a:cxnLst/>
              <a:rect r="r" b="b" t="t" l="l"/>
              <a:pathLst>
                <a:path h="1789862" w="3314160">
                  <a:moveTo>
                    <a:pt x="31378" y="0"/>
                  </a:moveTo>
                  <a:lnTo>
                    <a:pt x="3282783" y="0"/>
                  </a:lnTo>
                  <a:cubicBezTo>
                    <a:pt x="3300112" y="0"/>
                    <a:pt x="3314160" y="14048"/>
                    <a:pt x="3314160" y="31378"/>
                  </a:cubicBezTo>
                  <a:lnTo>
                    <a:pt x="3314160" y="1758484"/>
                  </a:lnTo>
                  <a:cubicBezTo>
                    <a:pt x="3314160" y="1775814"/>
                    <a:pt x="3300112" y="1789862"/>
                    <a:pt x="3282783" y="1789862"/>
                  </a:cubicBezTo>
                  <a:lnTo>
                    <a:pt x="31378" y="1789862"/>
                  </a:lnTo>
                  <a:cubicBezTo>
                    <a:pt x="14048" y="1789862"/>
                    <a:pt x="0" y="1775814"/>
                    <a:pt x="0" y="1758484"/>
                  </a:cubicBezTo>
                  <a:lnTo>
                    <a:pt x="0" y="31378"/>
                  </a:lnTo>
                  <a:cubicBezTo>
                    <a:pt x="0" y="14048"/>
                    <a:pt x="14048" y="0"/>
                    <a:pt x="31378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3314160" cy="2123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428400" y="1493268"/>
            <a:ext cx="6830900" cy="7300465"/>
            <a:chOff x="0" y="0"/>
            <a:chExt cx="1799085" cy="19227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99085" cy="1922756"/>
            </a:xfrm>
            <a:custGeom>
              <a:avLst/>
              <a:gdLst/>
              <a:ahLst/>
              <a:cxnLst/>
              <a:rect r="r" b="b" t="t" l="l"/>
              <a:pathLst>
                <a:path h="1922756" w="1799085">
                  <a:moveTo>
                    <a:pt x="57802" y="0"/>
                  </a:moveTo>
                  <a:lnTo>
                    <a:pt x="1741283" y="0"/>
                  </a:lnTo>
                  <a:cubicBezTo>
                    <a:pt x="1756613" y="0"/>
                    <a:pt x="1771315" y="6090"/>
                    <a:pt x="1782155" y="16930"/>
                  </a:cubicBezTo>
                  <a:cubicBezTo>
                    <a:pt x="1792995" y="27770"/>
                    <a:pt x="1799085" y="42472"/>
                    <a:pt x="1799085" y="57802"/>
                  </a:cubicBezTo>
                  <a:lnTo>
                    <a:pt x="1799085" y="1864955"/>
                  </a:lnTo>
                  <a:cubicBezTo>
                    <a:pt x="1799085" y="1896878"/>
                    <a:pt x="1773206" y="1922756"/>
                    <a:pt x="1741283" y="1922756"/>
                  </a:cubicBezTo>
                  <a:lnTo>
                    <a:pt x="57802" y="1922756"/>
                  </a:lnTo>
                  <a:cubicBezTo>
                    <a:pt x="25879" y="1922756"/>
                    <a:pt x="0" y="1896878"/>
                    <a:pt x="0" y="1864955"/>
                  </a:cubicBezTo>
                  <a:lnTo>
                    <a:pt x="0" y="57802"/>
                  </a:lnTo>
                  <a:cubicBezTo>
                    <a:pt x="0" y="25879"/>
                    <a:pt x="25879" y="0"/>
                    <a:pt x="57802" y="0"/>
                  </a:cubicBezTo>
                  <a:close/>
                </a:path>
              </a:pathLst>
            </a:custGeom>
            <a:solidFill>
              <a:srgbClr val="8D2B2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33375"/>
              <a:ext cx="1799085" cy="22561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-2185362" y="3210262"/>
            <a:ext cx="8918179" cy="1905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0804860" y="1888814"/>
            <a:ext cx="6077981" cy="6509372"/>
            <a:chOff x="0" y="0"/>
            <a:chExt cx="787019" cy="84287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87019" cy="842878"/>
            </a:xfrm>
            <a:custGeom>
              <a:avLst/>
              <a:gdLst/>
              <a:ahLst/>
              <a:cxnLst/>
              <a:rect r="r" b="b" t="t" l="l"/>
              <a:pathLst>
                <a:path h="842878" w="787019">
                  <a:moveTo>
                    <a:pt x="0" y="0"/>
                  </a:moveTo>
                  <a:lnTo>
                    <a:pt x="787019" y="0"/>
                  </a:lnTo>
                  <a:lnTo>
                    <a:pt x="787019" y="842878"/>
                  </a:lnTo>
                  <a:lnTo>
                    <a:pt x="0" y="842878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5088236" y="3373270"/>
            <a:ext cx="4222027" cy="2089903"/>
          </a:xfrm>
          <a:custGeom>
            <a:avLst/>
            <a:gdLst/>
            <a:ahLst/>
            <a:cxnLst/>
            <a:rect r="r" b="b" t="t" l="l"/>
            <a:pathLst>
              <a:path h="2089903" w="4222027">
                <a:moveTo>
                  <a:pt x="0" y="0"/>
                </a:moveTo>
                <a:lnTo>
                  <a:pt x="4222027" y="0"/>
                </a:lnTo>
                <a:lnTo>
                  <a:pt x="4222027" y="2089903"/>
                </a:lnTo>
                <a:lnTo>
                  <a:pt x="0" y="20899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15297" y="1143000"/>
            <a:ext cx="4395328" cy="778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0"/>
              </a:lnSpc>
            </a:pPr>
            <a:r>
              <a:rPr lang="en-US" sz="59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Overview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15297" y="2007880"/>
            <a:ext cx="6760254" cy="101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00"/>
              </a:lnSpc>
            </a:pPr>
            <a:r>
              <a:rPr lang="en-US" sz="7100" b="true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APACHE FLINK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5297" y="3611454"/>
            <a:ext cx="7766039" cy="5471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299" spc="71" b="true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Architecture:</a:t>
            </a:r>
          </a:p>
          <a:p>
            <a:pPr algn="l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Client</a:t>
            </a:r>
          </a:p>
          <a:p>
            <a:pPr algn="l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JobManager</a:t>
            </a:r>
          </a:p>
          <a:p>
            <a:pPr algn="l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TaskManager</a:t>
            </a:r>
          </a:p>
          <a:p>
            <a:pPr algn="l">
              <a:lnSpc>
                <a:spcPts val="3104"/>
              </a:lnSpc>
            </a:pPr>
          </a:p>
          <a:p>
            <a:pPr algn="l">
              <a:lnSpc>
                <a:spcPts val="3104"/>
              </a:lnSpc>
            </a:pPr>
            <a:r>
              <a:rPr lang="en-US" sz="2299" spc="71" b="true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Purpose:</a:t>
            </a:r>
          </a:p>
          <a:p>
            <a:pPr algn="just">
              <a:lnSpc>
                <a:spcPts val="3104"/>
              </a:lnSpc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Fast, reliable, and scalable processing of stream and batch data in distributed environments.</a:t>
            </a:r>
          </a:p>
          <a:p>
            <a:pPr algn="just">
              <a:lnSpc>
                <a:spcPts val="3104"/>
              </a:lnSpc>
            </a:pPr>
          </a:p>
          <a:p>
            <a:pPr algn="just">
              <a:lnSpc>
                <a:spcPts val="3104"/>
              </a:lnSpc>
            </a:pPr>
            <a:r>
              <a:rPr lang="en-US" b="true" sz="2299" spc="71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Capabilities:</a:t>
            </a:r>
          </a:p>
          <a:p>
            <a:pPr algn="just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Unbounded (stream) / bounded (batch)</a:t>
            </a:r>
          </a:p>
          <a:p>
            <a:pPr algn="just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Stateful computations with fault tolerance</a:t>
            </a:r>
          </a:p>
          <a:p>
            <a:pPr algn="just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In-memory performance</a:t>
            </a:r>
          </a:p>
          <a:p>
            <a:pPr algn="just" marL="496567" indent="-248284" lvl="1">
              <a:lnSpc>
                <a:spcPts val="3104"/>
              </a:lnSpc>
              <a:spcBef>
                <a:spcPct val="0"/>
              </a:spcBef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Horizontal scalability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503507">
            <a:off x="-7720970" y="1056579"/>
            <a:ext cx="12583451" cy="7382737"/>
            <a:chOff x="0" y="0"/>
            <a:chExt cx="3314160" cy="19444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14160" cy="1944425"/>
            </a:xfrm>
            <a:custGeom>
              <a:avLst/>
              <a:gdLst/>
              <a:ahLst/>
              <a:cxnLst/>
              <a:rect r="r" b="b" t="t" l="l"/>
              <a:pathLst>
                <a:path h="1944425" w="3314160">
                  <a:moveTo>
                    <a:pt x="31378" y="0"/>
                  </a:moveTo>
                  <a:lnTo>
                    <a:pt x="3282783" y="0"/>
                  </a:lnTo>
                  <a:cubicBezTo>
                    <a:pt x="3300112" y="0"/>
                    <a:pt x="3314160" y="14048"/>
                    <a:pt x="3314160" y="31378"/>
                  </a:cubicBezTo>
                  <a:lnTo>
                    <a:pt x="3314160" y="1913047"/>
                  </a:lnTo>
                  <a:cubicBezTo>
                    <a:pt x="3314160" y="1930376"/>
                    <a:pt x="3300112" y="1944425"/>
                    <a:pt x="3282783" y="1944425"/>
                  </a:cubicBezTo>
                  <a:lnTo>
                    <a:pt x="31378" y="1944425"/>
                  </a:lnTo>
                  <a:cubicBezTo>
                    <a:pt x="14048" y="1944425"/>
                    <a:pt x="0" y="1930376"/>
                    <a:pt x="0" y="1913047"/>
                  </a:cubicBezTo>
                  <a:lnTo>
                    <a:pt x="0" y="31378"/>
                  </a:lnTo>
                  <a:cubicBezTo>
                    <a:pt x="0" y="14048"/>
                    <a:pt x="14048" y="0"/>
                    <a:pt x="31378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3314160" cy="22777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753856" y="9614819"/>
            <a:ext cx="5565113" cy="672181"/>
            <a:chOff x="0" y="0"/>
            <a:chExt cx="1465709" cy="17703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5709" cy="177035"/>
            </a:xfrm>
            <a:custGeom>
              <a:avLst/>
              <a:gdLst/>
              <a:ahLst/>
              <a:cxnLst/>
              <a:rect r="r" b="b" t="t" l="l"/>
              <a:pathLst>
                <a:path h="177035" w="1465709">
                  <a:moveTo>
                    <a:pt x="70949" y="0"/>
                  </a:moveTo>
                  <a:lnTo>
                    <a:pt x="1394760" y="0"/>
                  </a:lnTo>
                  <a:cubicBezTo>
                    <a:pt x="1433944" y="0"/>
                    <a:pt x="1465709" y="31765"/>
                    <a:pt x="1465709" y="70949"/>
                  </a:cubicBezTo>
                  <a:lnTo>
                    <a:pt x="1465709" y="106086"/>
                  </a:lnTo>
                  <a:cubicBezTo>
                    <a:pt x="1465709" y="145270"/>
                    <a:pt x="1433944" y="177035"/>
                    <a:pt x="1394760" y="177035"/>
                  </a:cubicBezTo>
                  <a:lnTo>
                    <a:pt x="70949" y="177035"/>
                  </a:lnTo>
                  <a:cubicBezTo>
                    <a:pt x="31765" y="177035"/>
                    <a:pt x="0" y="145270"/>
                    <a:pt x="0" y="106086"/>
                  </a:cubicBezTo>
                  <a:lnTo>
                    <a:pt x="0" y="70949"/>
                  </a:lnTo>
                  <a:cubicBezTo>
                    <a:pt x="0" y="31765"/>
                    <a:pt x="31765" y="0"/>
                    <a:pt x="70949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33375"/>
              <a:ext cx="1465709" cy="510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476744" y="0"/>
            <a:ext cx="5565113" cy="672181"/>
            <a:chOff x="0" y="0"/>
            <a:chExt cx="1465709" cy="1770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5709" cy="177035"/>
            </a:xfrm>
            <a:custGeom>
              <a:avLst/>
              <a:gdLst/>
              <a:ahLst/>
              <a:cxnLst/>
              <a:rect r="r" b="b" t="t" l="l"/>
              <a:pathLst>
                <a:path h="177035" w="1465709">
                  <a:moveTo>
                    <a:pt x="70949" y="0"/>
                  </a:moveTo>
                  <a:lnTo>
                    <a:pt x="1394760" y="0"/>
                  </a:lnTo>
                  <a:cubicBezTo>
                    <a:pt x="1433944" y="0"/>
                    <a:pt x="1465709" y="31765"/>
                    <a:pt x="1465709" y="70949"/>
                  </a:cubicBezTo>
                  <a:lnTo>
                    <a:pt x="1465709" y="106086"/>
                  </a:lnTo>
                  <a:cubicBezTo>
                    <a:pt x="1465709" y="145270"/>
                    <a:pt x="1433944" y="177035"/>
                    <a:pt x="1394760" y="177035"/>
                  </a:cubicBezTo>
                  <a:lnTo>
                    <a:pt x="70949" y="177035"/>
                  </a:lnTo>
                  <a:cubicBezTo>
                    <a:pt x="31765" y="177035"/>
                    <a:pt x="0" y="145270"/>
                    <a:pt x="0" y="106086"/>
                  </a:cubicBezTo>
                  <a:lnTo>
                    <a:pt x="0" y="70949"/>
                  </a:lnTo>
                  <a:cubicBezTo>
                    <a:pt x="0" y="31765"/>
                    <a:pt x="31765" y="0"/>
                    <a:pt x="70949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33375"/>
              <a:ext cx="1465709" cy="510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806741" y="1480686"/>
            <a:ext cx="2675262" cy="2810990"/>
            <a:chOff x="0" y="0"/>
            <a:chExt cx="773554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73554" cy="812800"/>
            </a:xfrm>
            <a:custGeom>
              <a:avLst/>
              <a:gdLst/>
              <a:ahLst/>
              <a:cxnLst/>
              <a:rect r="r" b="b" t="t" l="l"/>
              <a:pathLst>
                <a:path h="812800" w="773554">
                  <a:moveTo>
                    <a:pt x="0" y="0"/>
                  </a:moveTo>
                  <a:lnTo>
                    <a:pt x="773554" y="0"/>
                  </a:lnTo>
                  <a:lnTo>
                    <a:pt x="77355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C27F7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33375"/>
              <a:ext cx="773554" cy="1146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948096" y="1608398"/>
            <a:ext cx="2392552" cy="2555565"/>
            <a:chOff x="0" y="0"/>
            <a:chExt cx="402829" cy="4302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2829" cy="430275"/>
            </a:xfrm>
            <a:custGeom>
              <a:avLst/>
              <a:gdLst/>
              <a:ahLst/>
              <a:cxnLst/>
              <a:rect r="r" b="b" t="t" l="l"/>
              <a:pathLst>
                <a:path h="430275" w="402829">
                  <a:moveTo>
                    <a:pt x="0" y="0"/>
                  </a:moveTo>
                  <a:lnTo>
                    <a:pt x="402829" y="0"/>
                  </a:lnTo>
                  <a:lnTo>
                    <a:pt x="402829" y="430275"/>
                  </a:lnTo>
                  <a:lnTo>
                    <a:pt x="0" y="430275"/>
                  </a:lnTo>
                  <a:close/>
                </a:path>
              </a:pathLst>
            </a:custGeom>
            <a:blipFill>
              <a:blip r:embed="rId2"/>
              <a:stretch>
                <a:fillRect l="-3406" t="0" r="-3406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806741" y="5546262"/>
            <a:ext cx="2675262" cy="2810990"/>
            <a:chOff x="0" y="0"/>
            <a:chExt cx="773554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73554" cy="812800"/>
            </a:xfrm>
            <a:custGeom>
              <a:avLst/>
              <a:gdLst/>
              <a:ahLst/>
              <a:cxnLst/>
              <a:rect r="r" b="b" t="t" l="l"/>
              <a:pathLst>
                <a:path h="812800" w="773554">
                  <a:moveTo>
                    <a:pt x="0" y="0"/>
                  </a:moveTo>
                  <a:lnTo>
                    <a:pt x="773554" y="0"/>
                  </a:lnTo>
                  <a:lnTo>
                    <a:pt x="77355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C27F7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33375"/>
              <a:ext cx="773554" cy="1146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948096" y="5673974"/>
            <a:ext cx="2392552" cy="2555565"/>
            <a:chOff x="0" y="0"/>
            <a:chExt cx="402829" cy="43027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02829" cy="430275"/>
            </a:xfrm>
            <a:custGeom>
              <a:avLst/>
              <a:gdLst/>
              <a:ahLst/>
              <a:cxnLst/>
              <a:rect r="r" b="b" t="t" l="l"/>
              <a:pathLst>
                <a:path h="430275" w="402829">
                  <a:moveTo>
                    <a:pt x="0" y="0"/>
                  </a:moveTo>
                  <a:lnTo>
                    <a:pt x="402829" y="0"/>
                  </a:lnTo>
                  <a:lnTo>
                    <a:pt x="402829" y="430275"/>
                  </a:lnTo>
                  <a:lnTo>
                    <a:pt x="0" y="430275"/>
                  </a:lnTo>
                  <a:close/>
                </a:path>
              </a:pathLst>
            </a:custGeom>
            <a:blipFill>
              <a:blip r:embed="rId3"/>
              <a:stretch>
                <a:fillRect l="-3406" t="0" r="-3406" b="0"/>
              </a:stretch>
            </a:blipFill>
          </p:spPr>
        </p:sp>
      </p:grpSp>
      <p:sp>
        <p:nvSpPr>
          <p:cNvPr name="AutoShape 21" id="21"/>
          <p:cNvSpPr/>
          <p:nvPr/>
        </p:nvSpPr>
        <p:spPr>
          <a:xfrm>
            <a:off x="-2185362" y="3210262"/>
            <a:ext cx="8918179" cy="1905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13029444" y="4515529"/>
            <a:ext cx="4229856" cy="258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</a:pPr>
            <a:r>
              <a:rPr lang="en-US" b="true" sz="192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SPARK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029444" y="8547752"/>
            <a:ext cx="4229856" cy="258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</a:pPr>
            <a:r>
              <a:rPr lang="en-US" b="true" sz="192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HADOOP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15297" y="1143000"/>
            <a:ext cx="5617520" cy="778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0"/>
              </a:lnSpc>
            </a:pPr>
            <a:r>
              <a:rPr lang="en-US" sz="59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Justification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15297" y="2007880"/>
            <a:ext cx="6760254" cy="101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00"/>
              </a:lnSpc>
            </a:pPr>
            <a:r>
              <a:rPr lang="en-US" sz="7100" b="true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APACHE FLINK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15297" y="3611454"/>
            <a:ext cx="9473389" cy="351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Unified engine for both batch and streaming workloads</a:t>
            </a:r>
          </a:p>
          <a:p>
            <a:pPr algn="l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Built for scalable, distributed data processing</a:t>
            </a:r>
          </a:p>
          <a:p>
            <a:pPr algn="l" marL="993135" indent="-331045" lvl="2">
              <a:lnSpc>
                <a:spcPts val="3104"/>
              </a:lnSpc>
              <a:buFont typeface="Arial"/>
              <a:buChar char="⚬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Shown in experimentation results</a:t>
            </a:r>
          </a:p>
          <a:p>
            <a:pPr algn="l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Strong fault tolerance</a:t>
            </a:r>
          </a:p>
          <a:p>
            <a:pPr algn="l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In-memory execution for high performance</a:t>
            </a:r>
          </a:p>
          <a:p>
            <a:pPr algn="l" marL="993135" indent="-331045" lvl="2">
              <a:lnSpc>
                <a:spcPts val="3104"/>
              </a:lnSpc>
              <a:buFont typeface="Arial"/>
              <a:buChar char="⚬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Overall fast, but subsequent runs were faster as well</a:t>
            </a:r>
          </a:p>
          <a:p>
            <a:pPr algn="just" marL="496567" indent="-248284" lvl="1">
              <a:lnSpc>
                <a:spcPts val="3104"/>
              </a:lnSpc>
              <a:spcBef>
                <a:spcPct val="0"/>
              </a:spcBef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Chosen over Spark/Hadoop for its modern architecture and native support for both data-parallel and task-parallel computation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503507">
            <a:off x="15971842" y="1684952"/>
            <a:ext cx="12583451" cy="7382737"/>
            <a:chOff x="0" y="0"/>
            <a:chExt cx="3314160" cy="19444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14160" cy="1944425"/>
            </a:xfrm>
            <a:custGeom>
              <a:avLst/>
              <a:gdLst/>
              <a:ahLst/>
              <a:cxnLst/>
              <a:rect r="r" b="b" t="t" l="l"/>
              <a:pathLst>
                <a:path h="1944425" w="3314160">
                  <a:moveTo>
                    <a:pt x="31378" y="0"/>
                  </a:moveTo>
                  <a:lnTo>
                    <a:pt x="3282783" y="0"/>
                  </a:lnTo>
                  <a:cubicBezTo>
                    <a:pt x="3300112" y="0"/>
                    <a:pt x="3314160" y="14048"/>
                    <a:pt x="3314160" y="31378"/>
                  </a:cubicBezTo>
                  <a:lnTo>
                    <a:pt x="3314160" y="1913047"/>
                  </a:lnTo>
                  <a:cubicBezTo>
                    <a:pt x="3314160" y="1930376"/>
                    <a:pt x="3300112" y="1944425"/>
                    <a:pt x="3282783" y="1944425"/>
                  </a:cubicBezTo>
                  <a:lnTo>
                    <a:pt x="31378" y="1944425"/>
                  </a:lnTo>
                  <a:cubicBezTo>
                    <a:pt x="14048" y="1944425"/>
                    <a:pt x="0" y="1930376"/>
                    <a:pt x="0" y="1913047"/>
                  </a:cubicBezTo>
                  <a:lnTo>
                    <a:pt x="0" y="31378"/>
                  </a:lnTo>
                  <a:cubicBezTo>
                    <a:pt x="0" y="14048"/>
                    <a:pt x="14048" y="0"/>
                    <a:pt x="31378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3314160" cy="22777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3503507">
            <a:off x="-10878133" y="751583"/>
            <a:ext cx="12583451" cy="7382737"/>
            <a:chOff x="0" y="0"/>
            <a:chExt cx="3314160" cy="19444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14160" cy="1944425"/>
            </a:xfrm>
            <a:custGeom>
              <a:avLst/>
              <a:gdLst/>
              <a:ahLst/>
              <a:cxnLst/>
              <a:rect r="r" b="b" t="t" l="l"/>
              <a:pathLst>
                <a:path h="1944425" w="3314160">
                  <a:moveTo>
                    <a:pt x="31378" y="0"/>
                  </a:moveTo>
                  <a:lnTo>
                    <a:pt x="3282783" y="0"/>
                  </a:lnTo>
                  <a:cubicBezTo>
                    <a:pt x="3300112" y="0"/>
                    <a:pt x="3314160" y="14048"/>
                    <a:pt x="3314160" y="31378"/>
                  </a:cubicBezTo>
                  <a:lnTo>
                    <a:pt x="3314160" y="1913047"/>
                  </a:lnTo>
                  <a:cubicBezTo>
                    <a:pt x="3314160" y="1930376"/>
                    <a:pt x="3300112" y="1944425"/>
                    <a:pt x="3282783" y="1944425"/>
                  </a:cubicBezTo>
                  <a:lnTo>
                    <a:pt x="31378" y="1944425"/>
                  </a:lnTo>
                  <a:cubicBezTo>
                    <a:pt x="14048" y="1944425"/>
                    <a:pt x="0" y="1930376"/>
                    <a:pt x="0" y="1913047"/>
                  </a:cubicBezTo>
                  <a:lnTo>
                    <a:pt x="0" y="31378"/>
                  </a:lnTo>
                  <a:cubicBezTo>
                    <a:pt x="0" y="14048"/>
                    <a:pt x="14048" y="0"/>
                    <a:pt x="31378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33375"/>
              <a:ext cx="3314160" cy="22777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-2185362" y="3210262"/>
            <a:ext cx="8918179" cy="1905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115297" y="1143000"/>
            <a:ext cx="4395328" cy="778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0"/>
              </a:lnSpc>
            </a:pPr>
            <a:r>
              <a:rPr lang="en-US" sz="59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Installation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15297" y="2007880"/>
            <a:ext cx="6760254" cy="101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00"/>
              </a:lnSpc>
            </a:pPr>
            <a:r>
              <a:rPr lang="en-US" sz="7100" b="true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APACHE FLINK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5297" y="3611454"/>
            <a:ext cx="15475514" cy="5861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299" spc="71" b="true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Steps:</a:t>
            </a:r>
          </a:p>
          <a:p>
            <a:pPr algn="l" marL="496567" indent="-248284" lvl="1">
              <a:lnSpc>
                <a:spcPts val="3104"/>
              </a:lnSpc>
              <a:buAutoNum type="arabicPeriod" startAt="1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Install Docker Desktop</a:t>
            </a:r>
          </a:p>
          <a:p>
            <a:pPr algn="l" marL="496567" indent="-248284" lvl="1">
              <a:lnSpc>
                <a:spcPts val="3104"/>
              </a:lnSpc>
              <a:buAutoNum type="arabicPeriod" startAt="1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Get docker-compose.yml (Session Mode vs. Application Mode)</a:t>
            </a:r>
          </a:p>
          <a:p>
            <a:pPr algn="l" marL="496567" indent="-248284" lvl="1">
              <a:lnSpc>
                <a:spcPts val="3104"/>
              </a:lnSpc>
              <a:buAutoNum type="arabicPeriod" startAt="1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Run </a:t>
            </a:r>
            <a:r>
              <a:rPr lang="en-US" sz="2299" i="true" spc="71">
                <a:solidFill>
                  <a:srgbClr val="2B2B2B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docker compose up</a:t>
            </a: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 in a terminal</a:t>
            </a:r>
          </a:p>
          <a:p>
            <a:pPr algn="l" marL="496567" indent="-248284" lvl="1">
              <a:lnSpc>
                <a:spcPts val="3104"/>
              </a:lnSpc>
              <a:buAutoNum type="arabicPeriod" startAt="1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Scaled with </a:t>
            </a:r>
            <a:r>
              <a:rPr lang="en-US" sz="2299" i="true" spc="71">
                <a:solidFill>
                  <a:srgbClr val="2B2B2B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docker compose up -d --scale taskmanager=&lt;N&gt;</a:t>
            </a:r>
          </a:p>
          <a:p>
            <a:pPr algn="l" marL="496567" indent="-248284" lvl="1">
              <a:lnSpc>
                <a:spcPts val="3104"/>
              </a:lnSpc>
              <a:buAutoNum type="arabicPeriod" startAt="1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Access Flink Web UI at </a:t>
            </a:r>
            <a:r>
              <a:rPr lang="en-US" sz="2299" spc="71" u="sng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  <a:hlinkClick r:id="rId2" tooltip="http://localhost:8081"/>
              </a:rPr>
              <a:t>http://localhost:8081</a:t>
            </a:r>
          </a:p>
          <a:p>
            <a:pPr algn="l">
              <a:lnSpc>
                <a:spcPts val="3104"/>
              </a:lnSpc>
            </a:pPr>
          </a:p>
          <a:p>
            <a:pPr algn="l">
              <a:lnSpc>
                <a:spcPts val="3104"/>
              </a:lnSpc>
            </a:pPr>
            <a:r>
              <a:rPr lang="en-US" sz="2299" spc="71" b="true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Environment: </a:t>
            </a: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Local cluster using Docker Compose on Windows with WSL2 backend. 1 JobManager + 1-3 TaskManagers. This enabled isolated and repeatable experiments with minimal overhead.</a:t>
            </a:r>
          </a:p>
          <a:p>
            <a:pPr algn="l">
              <a:lnSpc>
                <a:spcPts val="3104"/>
              </a:lnSpc>
            </a:pPr>
          </a:p>
          <a:p>
            <a:pPr algn="l">
              <a:lnSpc>
                <a:spcPts val="3104"/>
              </a:lnSpc>
            </a:pPr>
            <a:r>
              <a:rPr lang="en-US" sz="2299" spc="71" b="true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Challenges:</a:t>
            </a:r>
          </a:p>
          <a:p>
            <a:pPr algn="l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File-visibility issues between containers (resolved with consistent paths and permissions)</a:t>
            </a:r>
          </a:p>
          <a:p>
            <a:pPr algn="l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Slow I/O on Windows bind mounts (resolved by copying data inside containers)</a:t>
            </a:r>
          </a:p>
          <a:p>
            <a:pPr algn="l">
              <a:lnSpc>
                <a:spcPts val="3104"/>
              </a:lnSpc>
            </a:pPr>
          </a:p>
          <a:p>
            <a:pPr algn="l">
              <a:lnSpc>
                <a:spcPts val="3104"/>
              </a:lnSpc>
              <a:spcBef>
                <a:spcPct val="0"/>
              </a:spcBef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More details can be found in the README file (i.e. docker-compose.yml and Web UI screenshot).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503507">
            <a:off x="5492540" y="3717576"/>
            <a:ext cx="12583451" cy="7382737"/>
            <a:chOff x="0" y="0"/>
            <a:chExt cx="3314160" cy="19444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14160" cy="1944425"/>
            </a:xfrm>
            <a:custGeom>
              <a:avLst/>
              <a:gdLst/>
              <a:ahLst/>
              <a:cxnLst/>
              <a:rect r="r" b="b" t="t" l="l"/>
              <a:pathLst>
                <a:path h="1944425" w="3314160">
                  <a:moveTo>
                    <a:pt x="31378" y="0"/>
                  </a:moveTo>
                  <a:lnTo>
                    <a:pt x="3282783" y="0"/>
                  </a:lnTo>
                  <a:cubicBezTo>
                    <a:pt x="3300112" y="0"/>
                    <a:pt x="3314160" y="14048"/>
                    <a:pt x="3314160" y="31378"/>
                  </a:cubicBezTo>
                  <a:lnTo>
                    <a:pt x="3314160" y="1913047"/>
                  </a:lnTo>
                  <a:cubicBezTo>
                    <a:pt x="3314160" y="1930376"/>
                    <a:pt x="3300112" y="1944425"/>
                    <a:pt x="3282783" y="1944425"/>
                  </a:cubicBezTo>
                  <a:lnTo>
                    <a:pt x="31378" y="1944425"/>
                  </a:lnTo>
                  <a:cubicBezTo>
                    <a:pt x="14048" y="1944425"/>
                    <a:pt x="0" y="1930376"/>
                    <a:pt x="0" y="1913047"/>
                  </a:cubicBezTo>
                  <a:lnTo>
                    <a:pt x="0" y="31378"/>
                  </a:lnTo>
                  <a:cubicBezTo>
                    <a:pt x="0" y="14048"/>
                    <a:pt x="14048" y="0"/>
                    <a:pt x="31378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3314160" cy="22777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-2185362" y="3210262"/>
            <a:ext cx="8918179" cy="1905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115297" y="1143000"/>
            <a:ext cx="7457996" cy="778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0"/>
              </a:lnSpc>
            </a:pPr>
            <a:r>
              <a:rPr lang="en-US" sz="59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Experimentation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15297" y="2007880"/>
            <a:ext cx="6760254" cy="101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00"/>
              </a:lnSpc>
            </a:pPr>
            <a:r>
              <a:rPr lang="en-US" sz="7100" b="true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APACHE FLINK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15297" y="3611454"/>
            <a:ext cx="15475514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  <a:spcBef>
                <a:spcPct val="0"/>
              </a:spcBef>
            </a:pPr>
            <a:r>
              <a:rPr lang="en-US" b="true" sz="2299" spc="71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Workload: </a:t>
            </a: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Word count, which is a computational and analytical task.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15297" y="4555064"/>
            <a:ext cx="15195753" cy="1908810"/>
            <a:chOff x="0" y="0"/>
            <a:chExt cx="20261003" cy="254508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9943994" cy="2592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04"/>
                </a:lnSpc>
              </a:pPr>
              <a:r>
                <a:rPr lang="en-US" sz="2299" spc="71" b="true">
                  <a:solidFill>
                    <a:srgbClr val="2B2B2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Datasets:</a:t>
              </a:r>
            </a:p>
            <a:p>
              <a:pPr algn="l" marL="496567" indent="-248284" lvl="1">
                <a:lnSpc>
                  <a:spcPts val="3104"/>
                </a:lnSpc>
                <a:buFont typeface="Arial"/>
                <a:buChar char="•"/>
              </a:pPr>
              <a:r>
                <a:rPr lang="en-US" sz="2299" spc="71">
                  <a:solidFill>
                    <a:srgbClr val="2B2B2B"/>
                  </a:solidFill>
                  <a:latin typeface="Poppins"/>
                  <a:ea typeface="Poppins"/>
                  <a:cs typeface="Poppins"/>
                  <a:sym typeface="Poppins"/>
                </a:rPr>
                <a:t>Small (~2 MB)</a:t>
              </a:r>
            </a:p>
            <a:p>
              <a:pPr algn="l" marL="496567" indent="-248284" lvl="1">
                <a:lnSpc>
                  <a:spcPts val="3104"/>
                </a:lnSpc>
                <a:buFont typeface="Arial"/>
                <a:buChar char="•"/>
              </a:pPr>
              <a:r>
                <a:rPr lang="en-US" sz="2299" spc="71">
                  <a:solidFill>
                    <a:srgbClr val="2B2B2B"/>
                  </a:solidFill>
                  <a:latin typeface="Poppins"/>
                  <a:ea typeface="Poppins"/>
                  <a:cs typeface="Poppins"/>
                  <a:sym typeface="Poppins"/>
                </a:rPr>
                <a:t>Medium (~29 MB)</a:t>
              </a:r>
            </a:p>
            <a:p>
              <a:pPr algn="l" marL="496567" indent="-248284" lvl="1">
                <a:lnSpc>
                  <a:spcPts val="3104"/>
                </a:lnSpc>
                <a:buFont typeface="Arial"/>
                <a:buChar char="•"/>
              </a:pPr>
              <a:r>
                <a:rPr lang="en-US" sz="2299" spc="71">
                  <a:solidFill>
                    <a:srgbClr val="2B2B2B"/>
                  </a:solidFill>
                  <a:latin typeface="Poppins"/>
                  <a:ea typeface="Poppins"/>
                  <a:cs typeface="Poppins"/>
                  <a:sym typeface="Poppins"/>
                </a:rPr>
                <a:t>Large (~81 MB)</a:t>
              </a:r>
            </a:p>
            <a:p>
              <a:pPr algn="l">
                <a:lnSpc>
                  <a:spcPts val="3104"/>
                </a:lnSpc>
                <a:spcBef>
                  <a:spcPct val="0"/>
                </a:spcBef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0317009" y="-47625"/>
              <a:ext cx="9943994" cy="20720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04"/>
                </a:lnSpc>
              </a:pPr>
              <a:r>
                <a:rPr lang="en-US" sz="2299" spc="71" b="true">
                  <a:solidFill>
                    <a:srgbClr val="2B2B2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Experimental variables:</a:t>
              </a:r>
            </a:p>
            <a:p>
              <a:pPr algn="l" marL="496567" indent="-248284" lvl="1">
                <a:lnSpc>
                  <a:spcPts val="3104"/>
                </a:lnSpc>
                <a:buFont typeface="Arial"/>
                <a:buChar char="•"/>
              </a:pPr>
              <a:r>
                <a:rPr lang="en-US" sz="2299" spc="71">
                  <a:solidFill>
                    <a:srgbClr val="2B2B2B"/>
                  </a:solidFill>
                  <a:latin typeface="Poppins"/>
                  <a:ea typeface="Poppins"/>
                  <a:cs typeface="Poppins"/>
                  <a:sym typeface="Poppins"/>
                </a:rPr>
                <a:t>Data volume (small → medium → large)</a:t>
              </a:r>
            </a:p>
            <a:p>
              <a:pPr algn="l" marL="496567" indent="-248284" lvl="1">
                <a:lnSpc>
                  <a:spcPts val="3104"/>
                </a:lnSpc>
                <a:buFont typeface="Arial"/>
                <a:buChar char="•"/>
              </a:pPr>
              <a:r>
                <a:rPr lang="en-US" sz="2299" spc="71">
                  <a:solidFill>
                    <a:srgbClr val="2B2B2B"/>
                  </a:solidFill>
                  <a:latin typeface="Poppins"/>
                  <a:ea typeface="Poppins"/>
                  <a:cs typeface="Poppins"/>
                  <a:sym typeface="Poppins"/>
                </a:rPr>
                <a:t>Compute nodes (1 TM, 2 TMs, 3 TMs)</a:t>
              </a:r>
            </a:p>
            <a:p>
              <a:pPr algn="l">
                <a:lnSpc>
                  <a:spcPts val="3104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115297" y="6965524"/>
            <a:ext cx="15475514" cy="784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  <a:spcBef>
                <a:spcPct val="0"/>
              </a:spcBef>
            </a:pPr>
            <a:r>
              <a:rPr lang="en-US" b="true" sz="2299" spc="71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Measured metrics: </a:t>
            </a: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The execution time (ms), CPU %, Memory %, and Network I/O were measured per variable value, while keeping other variables fixed, and documented in a tabular format.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15297" y="8252034"/>
            <a:ext cx="15475514" cy="1175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299" spc="71" b="true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Goal: </a:t>
            </a: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Evaluate scalability and performance under varying data volumes and compute resources.</a:t>
            </a:r>
          </a:p>
          <a:p>
            <a:pPr algn="l">
              <a:lnSpc>
                <a:spcPts val="3104"/>
              </a:lnSpc>
            </a:pPr>
          </a:p>
          <a:p>
            <a:pPr algn="l">
              <a:lnSpc>
                <a:spcPts val="3104"/>
              </a:lnSpc>
              <a:spcBef>
                <a:spcPct val="0"/>
              </a:spcBef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More details can be found in the README file (i.e. commands executed and exact values).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503507">
            <a:off x="5380001" y="9454402"/>
            <a:ext cx="5068421" cy="1710448"/>
            <a:chOff x="0" y="0"/>
            <a:chExt cx="1334893" cy="4504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4893" cy="450488"/>
            </a:xfrm>
            <a:custGeom>
              <a:avLst/>
              <a:gdLst/>
              <a:ahLst/>
              <a:cxnLst/>
              <a:rect r="r" b="b" t="t" l="l"/>
              <a:pathLst>
                <a:path h="450488" w="1334893">
                  <a:moveTo>
                    <a:pt x="77902" y="0"/>
                  </a:moveTo>
                  <a:lnTo>
                    <a:pt x="1256991" y="0"/>
                  </a:lnTo>
                  <a:cubicBezTo>
                    <a:pt x="1277652" y="0"/>
                    <a:pt x="1297467" y="8207"/>
                    <a:pt x="1312076" y="22817"/>
                  </a:cubicBezTo>
                  <a:cubicBezTo>
                    <a:pt x="1326685" y="37426"/>
                    <a:pt x="1334893" y="57241"/>
                    <a:pt x="1334893" y="77902"/>
                  </a:cubicBezTo>
                  <a:lnTo>
                    <a:pt x="1334893" y="372587"/>
                  </a:lnTo>
                  <a:cubicBezTo>
                    <a:pt x="1334893" y="393248"/>
                    <a:pt x="1326685" y="413062"/>
                    <a:pt x="1312076" y="427672"/>
                  </a:cubicBezTo>
                  <a:cubicBezTo>
                    <a:pt x="1297467" y="442281"/>
                    <a:pt x="1277652" y="450488"/>
                    <a:pt x="1256991" y="450488"/>
                  </a:cubicBezTo>
                  <a:lnTo>
                    <a:pt x="77902" y="450488"/>
                  </a:lnTo>
                  <a:cubicBezTo>
                    <a:pt x="57241" y="450488"/>
                    <a:pt x="37426" y="442281"/>
                    <a:pt x="22817" y="427672"/>
                  </a:cubicBezTo>
                  <a:cubicBezTo>
                    <a:pt x="8207" y="413062"/>
                    <a:pt x="0" y="393248"/>
                    <a:pt x="0" y="372587"/>
                  </a:cubicBezTo>
                  <a:lnTo>
                    <a:pt x="0" y="77902"/>
                  </a:lnTo>
                  <a:cubicBezTo>
                    <a:pt x="0" y="57241"/>
                    <a:pt x="8207" y="37426"/>
                    <a:pt x="22817" y="22817"/>
                  </a:cubicBezTo>
                  <a:cubicBezTo>
                    <a:pt x="37426" y="8207"/>
                    <a:pt x="57241" y="0"/>
                    <a:pt x="77902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1334893" cy="7838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3503507">
            <a:off x="551042" y="-1554003"/>
            <a:ext cx="5068421" cy="1710448"/>
            <a:chOff x="0" y="0"/>
            <a:chExt cx="1334893" cy="4504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4893" cy="450488"/>
            </a:xfrm>
            <a:custGeom>
              <a:avLst/>
              <a:gdLst/>
              <a:ahLst/>
              <a:cxnLst/>
              <a:rect r="r" b="b" t="t" l="l"/>
              <a:pathLst>
                <a:path h="450488" w="1334893">
                  <a:moveTo>
                    <a:pt x="77902" y="0"/>
                  </a:moveTo>
                  <a:lnTo>
                    <a:pt x="1256991" y="0"/>
                  </a:lnTo>
                  <a:cubicBezTo>
                    <a:pt x="1277652" y="0"/>
                    <a:pt x="1297467" y="8207"/>
                    <a:pt x="1312076" y="22817"/>
                  </a:cubicBezTo>
                  <a:cubicBezTo>
                    <a:pt x="1326685" y="37426"/>
                    <a:pt x="1334893" y="57241"/>
                    <a:pt x="1334893" y="77902"/>
                  </a:cubicBezTo>
                  <a:lnTo>
                    <a:pt x="1334893" y="372587"/>
                  </a:lnTo>
                  <a:cubicBezTo>
                    <a:pt x="1334893" y="393248"/>
                    <a:pt x="1326685" y="413062"/>
                    <a:pt x="1312076" y="427672"/>
                  </a:cubicBezTo>
                  <a:cubicBezTo>
                    <a:pt x="1297467" y="442281"/>
                    <a:pt x="1277652" y="450488"/>
                    <a:pt x="1256991" y="450488"/>
                  </a:cubicBezTo>
                  <a:lnTo>
                    <a:pt x="77902" y="450488"/>
                  </a:lnTo>
                  <a:cubicBezTo>
                    <a:pt x="57241" y="450488"/>
                    <a:pt x="37426" y="442281"/>
                    <a:pt x="22817" y="427672"/>
                  </a:cubicBezTo>
                  <a:cubicBezTo>
                    <a:pt x="8207" y="413062"/>
                    <a:pt x="0" y="393248"/>
                    <a:pt x="0" y="372587"/>
                  </a:cubicBezTo>
                  <a:lnTo>
                    <a:pt x="0" y="77902"/>
                  </a:lnTo>
                  <a:cubicBezTo>
                    <a:pt x="0" y="57241"/>
                    <a:pt x="8207" y="37426"/>
                    <a:pt x="22817" y="22817"/>
                  </a:cubicBezTo>
                  <a:cubicBezTo>
                    <a:pt x="37426" y="8207"/>
                    <a:pt x="57241" y="0"/>
                    <a:pt x="77902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33375"/>
              <a:ext cx="1334893" cy="7838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-2185362" y="3210262"/>
            <a:ext cx="8918179" cy="1905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6898714" y="3701506"/>
            <a:ext cx="4490571" cy="2694343"/>
          </a:xfrm>
          <a:custGeom>
            <a:avLst/>
            <a:gdLst/>
            <a:ahLst/>
            <a:cxnLst/>
            <a:rect r="r" b="b" t="t" l="l"/>
            <a:pathLst>
              <a:path h="2694343" w="4490571">
                <a:moveTo>
                  <a:pt x="0" y="0"/>
                </a:moveTo>
                <a:lnTo>
                  <a:pt x="4490572" y="0"/>
                </a:lnTo>
                <a:lnTo>
                  <a:pt x="4490572" y="2694343"/>
                </a:lnTo>
                <a:lnTo>
                  <a:pt x="0" y="26943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6592" y="3701506"/>
            <a:ext cx="4490571" cy="2694343"/>
          </a:xfrm>
          <a:custGeom>
            <a:avLst/>
            <a:gdLst/>
            <a:ahLst/>
            <a:cxnLst/>
            <a:rect r="r" b="b" t="t" l="l"/>
            <a:pathLst>
              <a:path h="2694343" w="4490571">
                <a:moveTo>
                  <a:pt x="0" y="0"/>
                </a:moveTo>
                <a:lnTo>
                  <a:pt x="4490572" y="0"/>
                </a:lnTo>
                <a:lnTo>
                  <a:pt x="4490572" y="2694343"/>
                </a:lnTo>
                <a:lnTo>
                  <a:pt x="0" y="26943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210836" y="3701506"/>
            <a:ext cx="4490571" cy="2694343"/>
          </a:xfrm>
          <a:custGeom>
            <a:avLst/>
            <a:gdLst/>
            <a:ahLst/>
            <a:cxnLst/>
            <a:rect r="r" b="b" t="t" l="l"/>
            <a:pathLst>
              <a:path h="2694343" w="4490571">
                <a:moveTo>
                  <a:pt x="0" y="0"/>
                </a:moveTo>
                <a:lnTo>
                  <a:pt x="4490572" y="0"/>
                </a:lnTo>
                <a:lnTo>
                  <a:pt x="4490572" y="2694343"/>
                </a:lnTo>
                <a:lnTo>
                  <a:pt x="0" y="2694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15297" y="1143000"/>
            <a:ext cx="7457996" cy="778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0"/>
              </a:lnSpc>
            </a:pPr>
            <a:r>
              <a:rPr lang="en-US" sz="59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15297" y="2007880"/>
            <a:ext cx="6760254" cy="101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00"/>
              </a:lnSpc>
            </a:pPr>
            <a:r>
              <a:rPr lang="en-US" sz="7100" b="true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APACHE FLINK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06243" y="6395849"/>
            <a:ext cx="15475514" cy="2977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8" indent="-237489" lvl="1">
              <a:lnSpc>
                <a:spcPts val="2969"/>
              </a:lnSpc>
              <a:buFont typeface="Arial"/>
              <a:buChar char="•"/>
            </a:pPr>
            <a:r>
              <a:rPr lang="en-US" b="true" sz="2199" spc="68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Data scaling: </a:t>
            </a:r>
            <a:r>
              <a:rPr lang="en-US" sz="2199" spc="68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Time grew linearly with size, confirming predictable throughput and efficient scaling.</a:t>
            </a:r>
          </a:p>
          <a:p>
            <a:pPr algn="just" marL="474978" indent="-237489" lvl="1">
              <a:lnSpc>
                <a:spcPts val="2969"/>
              </a:lnSpc>
              <a:buFont typeface="Arial"/>
              <a:buChar char="•"/>
            </a:pPr>
            <a:r>
              <a:rPr lang="en-US" b="true" sz="2199" spc="68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Parallel execution: </a:t>
            </a:r>
            <a:r>
              <a:rPr lang="en-US" sz="2199" spc="68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CPU usage/node decreased as workload was distributed across more TMs.</a:t>
            </a:r>
          </a:p>
          <a:p>
            <a:pPr algn="just" marL="474978" indent="-237489" lvl="1">
              <a:lnSpc>
                <a:spcPts val="2969"/>
              </a:lnSpc>
              <a:buFont typeface="Arial"/>
              <a:buChar char="•"/>
            </a:pPr>
            <a:r>
              <a:rPr lang="en-US" b="true" sz="2199" spc="68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Scalability: </a:t>
            </a:r>
            <a:r>
              <a:rPr lang="en-US" sz="2199" spc="68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Adding nodes reduced runtime but with diminishing returns due to network and coordination overhead.</a:t>
            </a:r>
          </a:p>
          <a:p>
            <a:pPr algn="just" marL="474978" indent="-237489" lvl="1">
              <a:lnSpc>
                <a:spcPts val="2969"/>
              </a:lnSpc>
              <a:buFont typeface="Arial"/>
              <a:buChar char="•"/>
            </a:pPr>
            <a:r>
              <a:rPr lang="en-US" b="true" sz="2199" spc="68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Network impact: </a:t>
            </a:r>
            <a:r>
              <a:rPr lang="en-US" sz="2199" spc="68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Higher inter-node shuffling increased I/O in multi-node runs, showing distributed communication.</a:t>
            </a:r>
          </a:p>
          <a:p>
            <a:pPr algn="just">
              <a:lnSpc>
                <a:spcPts val="2969"/>
              </a:lnSpc>
            </a:pPr>
          </a:p>
          <a:p>
            <a:pPr algn="just">
              <a:lnSpc>
                <a:spcPts val="2969"/>
              </a:lnSpc>
              <a:spcBef>
                <a:spcPct val="0"/>
              </a:spcBef>
            </a:pPr>
            <a:r>
              <a:rPr lang="en-US" sz="2199" spc="68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More details can be found in the README file (i.e. comments per experiment variable).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503507">
            <a:off x="-2356457" y="6564794"/>
            <a:ext cx="5968439" cy="2484763"/>
            <a:chOff x="0" y="0"/>
            <a:chExt cx="1571935" cy="6544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1935" cy="654423"/>
            </a:xfrm>
            <a:custGeom>
              <a:avLst/>
              <a:gdLst/>
              <a:ahLst/>
              <a:cxnLst/>
              <a:rect r="r" b="b" t="t" l="l"/>
              <a:pathLst>
                <a:path h="654423" w="1571935">
                  <a:moveTo>
                    <a:pt x="66154" y="0"/>
                  </a:moveTo>
                  <a:lnTo>
                    <a:pt x="1505780" y="0"/>
                  </a:lnTo>
                  <a:cubicBezTo>
                    <a:pt x="1523326" y="0"/>
                    <a:pt x="1540152" y="6970"/>
                    <a:pt x="1552558" y="19376"/>
                  </a:cubicBezTo>
                  <a:cubicBezTo>
                    <a:pt x="1564965" y="31782"/>
                    <a:pt x="1571935" y="48609"/>
                    <a:pt x="1571935" y="66154"/>
                  </a:cubicBezTo>
                  <a:lnTo>
                    <a:pt x="1571935" y="588269"/>
                  </a:lnTo>
                  <a:cubicBezTo>
                    <a:pt x="1571935" y="624805"/>
                    <a:pt x="1542316" y="654423"/>
                    <a:pt x="1505780" y="654423"/>
                  </a:cubicBezTo>
                  <a:lnTo>
                    <a:pt x="66154" y="654423"/>
                  </a:lnTo>
                  <a:cubicBezTo>
                    <a:pt x="29618" y="654423"/>
                    <a:pt x="0" y="624805"/>
                    <a:pt x="0" y="588269"/>
                  </a:cubicBezTo>
                  <a:lnTo>
                    <a:pt x="0" y="66154"/>
                  </a:lnTo>
                  <a:cubicBezTo>
                    <a:pt x="0" y="29618"/>
                    <a:pt x="29618" y="0"/>
                    <a:pt x="66154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1571935" cy="9877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3503507">
            <a:off x="14958997" y="1874234"/>
            <a:ext cx="6145518" cy="2741564"/>
            <a:chOff x="0" y="0"/>
            <a:chExt cx="1618573" cy="7220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18573" cy="722058"/>
            </a:xfrm>
            <a:custGeom>
              <a:avLst/>
              <a:gdLst/>
              <a:ahLst/>
              <a:cxnLst/>
              <a:rect r="r" b="b" t="t" l="l"/>
              <a:pathLst>
                <a:path h="722058" w="1618573">
                  <a:moveTo>
                    <a:pt x="64248" y="0"/>
                  </a:moveTo>
                  <a:lnTo>
                    <a:pt x="1554325" y="0"/>
                  </a:lnTo>
                  <a:cubicBezTo>
                    <a:pt x="1571364" y="0"/>
                    <a:pt x="1587706" y="6769"/>
                    <a:pt x="1599755" y="18818"/>
                  </a:cubicBezTo>
                  <a:cubicBezTo>
                    <a:pt x="1611804" y="30867"/>
                    <a:pt x="1618573" y="47208"/>
                    <a:pt x="1618573" y="64248"/>
                  </a:cubicBezTo>
                  <a:lnTo>
                    <a:pt x="1618573" y="657810"/>
                  </a:lnTo>
                  <a:cubicBezTo>
                    <a:pt x="1618573" y="674850"/>
                    <a:pt x="1611804" y="691191"/>
                    <a:pt x="1599755" y="703240"/>
                  </a:cubicBezTo>
                  <a:cubicBezTo>
                    <a:pt x="1587706" y="715289"/>
                    <a:pt x="1571364" y="722058"/>
                    <a:pt x="1554325" y="722058"/>
                  </a:cubicBezTo>
                  <a:lnTo>
                    <a:pt x="64248" y="722058"/>
                  </a:lnTo>
                  <a:cubicBezTo>
                    <a:pt x="47208" y="722058"/>
                    <a:pt x="30867" y="715289"/>
                    <a:pt x="18818" y="703240"/>
                  </a:cubicBezTo>
                  <a:cubicBezTo>
                    <a:pt x="6769" y="691191"/>
                    <a:pt x="0" y="674850"/>
                    <a:pt x="0" y="657810"/>
                  </a:cubicBezTo>
                  <a:lnTo>
                    <a:pt x="0" y="64248"/>
                  </a:lnTo>
                  <a:cubicBezTo>
                    <a:pt x="0" y="47208"/>
                    <a:pt x="6769" y="30867"/>
                    <a:pt x="18818" y="18818"/>
                  </a:cubicBezTo>
                  <a:cubicBezTo>
                    <a:pt x="30867" y="6769"/>
                    <a:pt x="47208" y="0"/>
                    <a:pt x="64248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33375"/>
              <a:ext cx="1618573" cy="1055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-2185362" y="3210262"/>
            <a:ext cx="8918179" cy="1905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115297" y="1143000"/>
            <a:ext cx="7457996" cy="778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0"/>
              </a:lnSpc>
            </a:pPr>
            <a:r>
              <a:rPr lang="en-US" sz="59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Critical Analysis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15297" y="2007880"/>
            <a:ext cx="6760254" cy="101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00"/>
              </a:lnSpc>
            </a:pPr>
            <a:r>
              <a:rPr lang="en-US" sz="7100" b="true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APACHE FLINK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64556" y="3548220"/>
            <a:ext cx="8679444" cy="1956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299" spc="71" b="true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Strengths:</a:t>
            </a:r>
          </a:p>
          <a:p>
            <a:pPr algn="l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Handles larger datasets and nodes efficiently.</a:t>
            </a:r>
          </a:p>
          <a:p>
            <a:pPr algn="l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Linear scaling with data volume, stable memory use.</a:t>
            </a:r>
          </a:p>
          <a:p>
            <a:pPr algn="l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Same engine for batch and stream jobs.</a:t>
            </a:r>
          </a:p>
          <a:p>
            <a:pPr algn="l" marL="496567" indent="-248284" lvl="1">
              <a:lnSpc>
                <a:spcPts val="3104"/>
              </a:lnSpc>
              <a:spcBef>
                <a:spcPct val="0"/>
              </a:spcBef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Fault tolerant.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3548220"/>
            <a:ext cx="8679444" cy="1956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299" spc="71" b="true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Limitations:</a:t>
            </a:r>
          </a:p>
          <a:p>
            <a:pPr algn="l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Short jobs suffer from JVM and submission latency.</a:t>
            </a:r>
          </a:p>
          <a:p>
            <a:pPr algn="l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Multi-node increases shuffle/coordination overhead.</a:t>
            </a:r>
          </a:p>
          <a:p>
            <a:pPr algn="l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Requires careful file visibility and permissions.</a:t>
            </a:r>
          </a:p>
          <a:p>
            <a:pPr algn="l" marL="496567" indent="-248284" lvl="1">
              <a:lnSpc>
                <a:spcPts val="3104"/>
              </a:lnSpc>
              <a:spcBef>
                <a:spcPct val="0"/>
              </a:spcBef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Slow Windows I/O compared to Linux environments.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27762" y="6437640"/>
            <a:ext cx="17195681" cy="1956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299" spc="71" b="true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Possible improvements:</a:t>
            </a:r>
          </a:p>
          <a:p>
            <a:pPr algn="l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Use native Linux or cloud clusters for more realistic performance.</a:t>
            </a:r>
          </a:p>
          <a:p>
            <a:pPr algn="l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Automate data distribution with HDFS/S3 instead of manual copying.</a:t>
            </a:r>
          </a:p>
          <a:p>
            <a:pPr algn="l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Integrate Flink SQL or Kafka to explore streaming workloads.</a:t>
            </a:r>
          </a:p>
          <a:p>
            <a:pPr algn="l" marL="496567" indent="-248284" lvl="1">
              <a:lnSpc>
                <a:spcPts val="3104"/>
              </a:lnSpc>
              <a:spcBef>
                <a:spcPct val="0"/>
              </a:spcBef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Enable profiling dashboards for deeper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DAG4s9QJ9Zw</dc:identifier>
  <dcterms:modified xsi:type="dcterms:W3CDTF">2011-08-01T06:04:30Z</dcterms:modified>
  <cp:revision>1</cp:revision>
  <dc:title>ICS474 - Assignment 1</dc:title>
</cp:coreProperties>
</file>